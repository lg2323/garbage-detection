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725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502920"/>
            <a:ext cx="3291840" cy="3291840"/>
          </a:xfrm>
          <a:prstGeom prst="ellipse">
            <a:avLst/>
          </a:prstGeom>
          <a:solidFill>
            <a:srgbClr val="B7DDD5">
              <a:alpha val="28000"/>
            </a:srgbClr>
          </a:solidFill>
          <a:ln w="6350">
            <a:solidFill>
              <a:srgbClr val="B7DDD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5166360"/>
            <a:ext cx="2194560" cy="2194560"/>
          </a:xfrm>
          <a:prstGeom prst="ellipse">
            <a:avLst/>
          </a:prstGeom>
          <a:solidFill>
            <a:srgbClr val="F2D6A8">
              <a:alpha val="18000"/>
            </a:srgbClr>
          </a:solidFill>
          <a:ln w="6350">
            <a:solidFill>
              <a:srgbClr val="F2D6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896112"/>
            <a:ext cx="73152" cy="1325880"/>
          </a:xfrm>
          <a:prstGeom prst="rect">
            <a:avLst/>
          </a:prstGeom>
          <a:solidFill>
            <a:srgbClr val="1E5B52"/>
          </a:solidFill>
          <a:ln w="6350">
            <a:solidFill>
              <a:srgbClr val="1E5B5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84048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1E5B52"/>
          </a:solidFill>
          <a:ln w="6350">
            <a:solidFill>
              <a:srgbClr val="1E5B5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93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КУРСОВОЙ ПРОЕКТ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8302752" y="384048"/>
            <a:ext cx="1143000" cy="347472"/>
          </a:xfrm>
          <a:prstGeom prst="roundRect">
            <a:avLst>
              <a:gd name="adj" fmla="val 31579"/>
            </a:avLst>
          </a:prstGeom>
          <a:solidFill>
            <a:srgbClr val="2F8F83"/>
          </a:solidFill>
          <a:ln w="6350">
            <a:solidFill>
              <a:srgbClr val="2F8F8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3931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Выполнил</a:t>
            </a:r>
            <a:endParaRPr lang="ru-RU" sz="1050" dirty="0"/>
          </a:p>
        </p:txBody>
      </p:sp>
      <p:sp>
        <p:nvSpPr>
          <p:cNvPr id="11" name="Shape 9"/>
          <p:cNvSpPr/>
          <p:nvPr/>
        </p:nvSpPr>
        <p:spPr>
          <a:xfrm>
            <a:off x="9491472" y="384048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2" y="3931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sz="1050" dirty="0">
                <a:solidFill>
                  <a:srgbClr val="21313D"/>
                </a:solidFill>
                <a:latin typeface="Segoe UI Semibold" pitchFamily="34" charset="0"/>
                <a:cs typeface="Segoe UI Semibold" pitchFamily="34" charset="-120"/>
              </a:rPr>
              <a:t>Студент гр. ИС-222б Галлямов Э.И,</a:t>
            </a:r>
            <a:endParaRPr lang="ru-RU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749808"/>
            <a:ext cx="5715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2450" dirty="0">
                <a:solidFill>
                  <a:srgbClr val="213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Мониторинг</a:t>
            </a:r>
            <a:endParaRPr lang="ru-RU" sz="2450" dirty="0"/>
          </a:p>
          <a:p>
            <a:pPr marL="0" indent="0">
              <a:buNone/>
            </a:pPr>
            <a:r>
              <a:rPr lang="ru-RU" altLang="en-US" sz="2450" dirty="0">
                <a:solidFill>
                  <a:srgbClr val="213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несанкционированных</a:t>
            </a:r>
            <a:endParaRPr lang="ru-RU" sz="2450" dirty="0"/>
          </a:p>
          <a:p>
            <a:pPr marL="0" indent="0">
              <a:buNone/>
            </a:pPr>
            <a:r>
              <a:rPr lang="ru-RU" altLang="en-US" sz="2450" dirty="0">
                <a:solidFill>
                  <a:srgbClr val="213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скоплений мусора</a:t>
            </a:r>
            <a:endParaRPr lang="ru-RU" sz="2450" dirty="0"/>
          </a:p>
        </p:txBody>
      </p:sp>
      <p:sp>
        <p:nvSpPr>
          <p:cNvPr id="14" name="Text 12"/>
          <p:cNvSpPr/>
          <p:nvPr/>
        </p:nvSpPr>
        <p:spPr>
          <a:xfrm>
            <a:off x="768096" y="190195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altLang="en-US" sz="1200" dirty="0">
                <a:solidFill>
                  <a:srgbClr val="5E6A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Модульная информационная система для городской и природной среды</a:t>
            </a:r>
            <a:endParaRPr lang="ru-RU" sz="1200" dirty="0"/>
          </a:p>
        </p:txBody>
      </p:sp>
      <p:sp>
        <p:nvSpPr>
          <p:cNvPr id="15" name="Shape 13"/>
          <p:cNvSpPr/>
          <p:nvPr/>
        </p:nvSpPr>
        <p:spPr>
          <a:xfrm>
            <a:off x="768096" y="2340864"/>
            <a:ext cx="1572768" cy="310896"/>
          </a:xfrm>
          <a:prstGeom prst="roundRect">
            <a:avLst>
              <a:gd name="adj" fmla="val 35294"/>
            </a:avLst>
          </a:prstGeom>
          <a:solidFill>
            <a:srgbClr val="DFF2EE"/>
          </a:solidFill>
          <a:ln w="6350">
            <a:solidFill>
              <a:srgbClr val="DFF2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3500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1E5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+ GPS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2459736" y="2340864"/>
            <a:ext cx="1755648" cy="310896"/>
          </a:xfrm>
          <a:prstGeom prst="roundRect">
            <a:avLst>
              <a:gd name="adj" fmla="val 35294"/>
            </a:avLst>
          </a:prstGeom>
          <a:solidFill>
            <a:srgbClr val="E5EEF8"/>
          </a:solidFill>
          <a:ln w="6350">
            <a:solidFill>
              <a:srgbClr val="E5EE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9736" y="23500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2E6F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AI-верификация</a:t>
            </a:r>
            <a:endParaRPr lang="ru-RU" sz="1050" dirty="0"/>
          </a:p>
        </p:txBody>
      </p:sp>
      <p:sp>
        <p:nvSpPr>
          <p:cNvPr id="19" name="Shape 17"/>
          <p:cNvSpPr/>
          <p:nvPr/>
        </p:nvSpPr>
        <p:spPr>
          <a:xfrm>
            <a:off x="4334256" y="2340864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9EDD8"/>
          </a:solidFill>
          <a:ln w="6350">
            <a:solidFill>
              <a:srgbClr val="F9ED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34256" y="23500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D58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статусов</a:t>
            </a:r>
            <a:endParaRPr lang="ru-RU" sz="1050" dirty="0"/>
          </a:p>
        </p:txBody>
      </p:sp>
      <p:sp>
        <p:nvSpPr>
          <p:cNvPr id="21" name="Shape 19"/>
          <p:cNvSpPr/>
          <p:nvPr/>
        </p:nvSpPr>
        <p:spPr>
          <a:xfrm>
            <a:off x="6510528" y="786384"/>
            <a:ext cx="51023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9235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ru-RU" altLang="en-US" sz="1600" dirty="0">
                <a:solidFill>
                  <a:srgbClr val="1E5B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Тема проекта</a:t>
            </a:r>
            <a:endParaRPr lang="ru-RU" sz="1600" dirty="0"/>
          </a:p>
        </p:txBody>
      </p:sp>
      <p:sp>
        <p:nvSpPr>
          <p:cNvPr id="23" name="Text 21"/>
          <p:cNvSpPr/>
          <p:nvPr/>
        </p:nvSpPr>
        <p:spPr>
          <a:xfrm>
            <a:off x="6784848" y="1170432"/>
            <a:ext cx="4553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ru-RU" sz="1600" dirty="0"/>
              <a:t>Проектирование и разработка модульной информационной системы мониторинга несанкционированных скоплений мусора на основе компьютерного зрения для городской и природной среды</a:t>
            </a:r>
            <a:endParaRPr lang="ru-RU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816352"/>
            <a:ext cx="565099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29626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ru-RU" altLang="en-US" sz="1600" dirty="0">
                <a:solidFill>
                  <a:srgbClr val="1E5B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Цель автоматизации</a:t>
            </a:r>
            <a:endParaRPr lang="ru-RU" sz="1600" dirty="0"/>
          </a:p>
        </p:txBody>
      </p:sp>
      <p:sp>
        <p:nvSpPr>
          <p:cNvPr id="26" name="Text 24"/>
          <p:cNvSpPr/>
          <p:nvPr/>
        </p:nvSpPr>
        <p:spPr>
          <a:xfrm>
            <a:off x="841248" y="3255264"/>
            <a:ext cx="50109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1320" dirty="0">
                <a:solidFill>
                  <a:srgbClr val="213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Сделать обработку обращений по свалкам сквозной и контролируемой:</a:t>
            </a:r>
            <a:endParaRPr lang="ru-RU" sz="1320" dirty="0"/>
          </a:p>
          <a:p>
            <a:pPr marL="0" indent="0">
              <a:buNone/>
            </a:pPr>
            <a:r>
              <a:rPr lang="ru-RU" altLang="en-US" sz="1320" dirty="0">
                <a:solidFill>
                  <a:srgbClr val="213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приём фото и геолокации от граждан</a:t>
            </a:r>
            <a:endParaRPr lang="ru-RU" sz="1320" dirty="0"/>
          </a:p>
          <a:p>
            <a:pPr marL="0" indent="0">
              <a:buNone/>
            </a:pPr>
            <a:r>
              <a:rPr lang="ru-RU" altLang="en-US" sz="1320" dirty="0">
                <a:solidFill>
                  <a:srgbClr val="213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маршрутизация заявок между координатором и исполнителем</a:t>
            </a:r>
            <a:endParaRPr lang="ru-RU" sz="1320" dirty="0"/>
          </a:p>
          <a:p>
            <a:pPr marL="0" indent="0">
              <a:buNone/>
            </a:pPr>
            <a:r>
              <a:rPr lang="ru-RU" altLang="en-US" sz="1320" dirty="0">
                <a:solidFill>
                  <a:srgbClr val="2131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AI-проверка состояния «до / после» и контроль закрытия</a:t>
            </a:r>
            <a:endParaRPr lang="ru-RU" sz="1320" dirty="0"/>
          </a:p>
        </p:txBody>
      </p:sp>
      <p:sp>
        <p:nvSpPr>
          <p:cNvPr id="29" name="Shape 27"/>
          <p:cNvSpPr/>
          <p:nvPr/>
        </p:nvSpPr>
        <p:spPr>
          <a:xfrm>
            <a:off x="6437376" y="2450592"/>
            <a:ext cx="5175504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E3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11696" y="26151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altLang="en-US" sz="1220" dirty="0">
                <a:solidFill>
                  <a:srgbClr val="1E5B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Применённые средства</a:t>
            </a:r>
            <a:endParaRPr lang="ru-RU" sz="1220" dirty="0"/>
          </a:p>
        </p:txBody>
      </p:sp>
      <p:sp>
        <p:nvSpPr>
          <p:cNvPr id="31" name="Shape 29"/>
          <p:cNvSpPr/>
          <p:nvPr/>
        </p:nvSpPr>
        <p:spPr>
          <a:xfrm>
            <a:off x="6711696" y="2962656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DFF2EE"/>
          </a:solidFill>
          <a:ln w="6350">
            <a:solidFill>
              <a:srgbClr val="DFF2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297180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1E5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ru-RU" sz="1050" dirty="0"/>
          </a:p>
        </p:txBody>
      </p:sp>
      <p:sp>
        <p:nvSpPr>
          <p:cNvPr id="33" name="Shape 31"/>
          <p:cNvSpPr/>
          <p:nvPr/>
        </p:nvSpPr>
        <p:spPr>
          <a:xfrm>
            <a:off x="7644384" y="2962656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DFF2EE"/>
          </a:solidFill>
          <a:ln w="6350">
            <a:solidFill>
              <a:srgbClr val="DFF2E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2971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1E5B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Django REST</a:t>
            </a:r>
            <a:endParaRPr lang="ru-RU" sz="1050" dirty="0"/>
          </a:p>
        </p:txBody>
      </p:sp>
      <p:sp>
        <p:nvSpPr>
          <p:cNvPr id="35" name="Shape 33"/>
          <p:cNvSpPr/>
          <p:nvPr/>
        </p:nvSpPr>
        <p:spPr>
          <a:xfrm>
            <a:off x="9125712" y="2962656"/>
            <a:ext cx="768096" cy="310896"/>
          </a:xfrm>
          <a:prstGeom prst="roundRect">
            <a:avLst>
              <a:gd name="adj" fmla="val 35294"/>
            </a:avLst>
          </a:prstGeom>
          <a:solidFill>
            <a:srgbClr val="E5EEF8"/>
          </a:solidFill>
          <a:ln w="6350">
            <a:solidFill>
              <a:srgbClr val="E5EEF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5712" y="297180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2E6F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ru-RU" sz="1050" dirty="0"/>
          </a:p>
        </p:txBody>
      </p:sp>
      <p:sp>
        <p:nvSpPr>
          <p:cNvPr id="37" name="Shape 35"/>
          <p:cNvSpPr/>
          <p:nvPr/>
        </p:nvSpPr>
        <p:spPr>
          <a:xfrm>
            <a:off x="10003536" y="2962656"/>
            <a:ext cx="676656" cy="310896"/>
          </a:xfrm>
          <a:prstGeom prst="roundRect">
            <a:avLst>
              <a:gd name="adj" fmla="val 35294"/>
            </a:avLst>
          </a:prstGeom>
          <a:solidFill>
            <a:srgbClr val="E5EEF8"/>
          </a:solidFill>
          <a:ln w="6350">
            <a:solidFill>
              <a:srgbClr val="E5EEF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03536" y="297180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2E6F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ru-RU" sz="1050" dirty="0"/>
          </a:p>
        </p:txBody>
      </p:sp>
      <p:sp>
        <p:nvSpPr>
          <p:cNvPr id="39" name="Shape 37"/>
          <p:cNvSpPr/>
          <p:nvPr/>
        </p:nvSpPr>
        <p:spPr>
          <a:xfrm>
            <a:off x="6711696" y="3346704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 w="6350">
            <a:solidFill>
              <a:srgbClr val="E9EEF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11696" y="335584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6476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ru-RU" sz="1050" dirty="0"/>
          </a:p>
        </p:txBody>
      </p:sp>
      <p:sp>
        <p:nvSpPr>
          <p:cNvPr id="41" name="Shape 39"/>
          <p:cNvSpPr/>
          <p:nvPr/>
        </p:nvSpPr>
        <p:spPr>
          <a:xfrm>
            <a:off x="8119872" y="3346704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 w="6350">
            <a:solidFill>
              <a:srgbClr val="E9EEF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9872" y="3355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6476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PostGIS</a:t>
            </a:r>
            <a:endParaRPr lang="ru-RU" sz="1050" dirty="0"/>
          </a:p>
        </p:txBody>
      </p:sp>
      <p:sp>
        <p:nvSpPr>
          <p:cNvPr id="43" name="Shape 41"/>
          <p:cNvSpPr/>
          <p:nvPr/>
        </p:nvSpPr>
        <p:spPr>
          <a:xfrm>
            <a:off x="9144000" y="3346704"/>
            <a:ext cx="932688" cy="310896"/>
          </a:xfrm>
          <a:prstGeom prst="roundRect">
            <a:avLst>
              <a:gd name="adj" fmla="val 35294"/>
            </a:avLst>
          </a:prstGeom>
          <a:solidFill>
            <a:srgbClr val="E5EEF8"/>
          </a:solidFill>
          <a:ln w="6350">
            <a:solidFill>
              <a:srgbClr val="E5EEF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335584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2E6F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PyTorch</a:t>
            </a:r>
            <a:endParaRPr lang="ru-RU" sz="1050" dirty="0"/>
          </a:p>
        </p:txBody>
      </p:sp>
      <p:sp>
        <p:nvSpPr>
          <p:cNvPr id="45" name="Shape 43"/>
          <p:cNvSpPr/>
          <p:nvPr/>
        </p:nvSpPr>
        <p:spPr>
          <a:xfrm>
            <a:off x="6711696" y="3730752"/>
            <a:ext cx="694944" cy="310896"/>
          </a:xfrm>
          <a:prstGeom prst="roundRect">
            <a:avLst>
              <a:gd name="adj" fmla="val 35294"/>
            </a:avLst>
          </a:prstGeom>
          <a:solidFill>
            <a:srgbClr val="F9EDD8"/>
          </a:solidFill>
          <a:ln w="6350">
            <a:solidFill>
              <a:srgbClr val="F9EDD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3739896"/>
            <a:ext cx="694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D58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</a:t>
            </a:r>
            <a:endParaRPr lang="ru-RU" sz="1050" dirty="0"/>
          </a:p>
        </p:txBody>
      </p:sp>
      <p:sp>
        <p:nvSpPr>
          <p:cNvPr id="47" name="Shape 45"/>
          <p:cNvSpPr/>
          <p:nvPr/>
        </p:nvSpPr>
        <p:spPr>
          <a:xfrm>
            <a:off x="7516368" y="3730752"/>
            <a:ext cx="1115568" cy="310896"/>
          </a:xfrm>
          <a:prstGeom prst="roundRect">
            <a:avLst>
              <a:gd name="adj" fmla="val 35294"/>
            </a:avLst>
          </a:prstGeom>
          <a:solidFill>
            <a:srgbClr val="F9EDD8"/>
          </a:solidFill>
          <a:ln w="6350">
            <a:solidFill>
              <a:srgbClr val="F9EDD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6368" y="373989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D58C2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Ultralytics</a:t>
            </a:r>
            <a:endParaRPr lang="ru-RU" sz="1050" dirty="0"/>
          </a:p>
        </p:txBody>
      </p:sp>
      <p:sp>
        <p:nvSpPr>
          <p:cNvPr id="49" name="Shape 47"/>
          <p:cNvSpPr/>
          <p:nvPr/>
        </p:nvSpPr>
        <p:spPr>
          <a:xfrm>
            <a:off x="8741664" y="3730752"/>
            <a:ext cx="822960" cy="310896"/>
          </a:xfrm>
          <a:prstGeom prst="roundRect">
            <a:avLst>
              <a:gd name="adj" fmla="val 35294"/>
            </a:avLst>
          </a:prstGeom>
          <a:solidFill>
            <a:srgbClr val="E5EEF8"/>
          </a:solidFill>
          <a:ln w="6350">
            <a:solidFill>
              <a:srgbClr val="E5EEF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41664" y="37398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2E6F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Leaflet</a:t>
            </a:r>
            <a:endParaRPr lang="ru-RU" sz="1050" dirty="0"/>
          </a:p>
        </p:txBody>
      </p:sp>
      <p:sp>
        <p:nvSpPr>
          <p:cNvPr id="51" name="Shape 49"/>
          <p:cNvSpPr/>
          <p:nvPr/>
        </p:nvSpPr>
        <p:spPr>
          <a:xfrm>
            <a:off x="9674352" y="3730752"/>
            <a:ext cx="749808" cy="310896"/>
          </a:xfrm>
          <a:prstGeom prst="roundRect">
            <a:avLst>
              <a:gd name="adj" fmla="val 35294"/>
            </a:avLst>
          </a:prstGeom>
          <a:solidFill>
            <a:srgbClr val="E9EEF2"/>
          </a:solidFill>
          <a:ln w="6350">
            <a:solidFill>
              <a:srgbClr val="E9EEF2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74352" y="373989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6476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ru-RU" sz="1050" dirty="0"/>
          </a:p>
        </p:txBody>
      </p:sp>
      <p:sp>
        <p:nvSpPr>
          <p:cNvPr id="54" name="Shape 52"/>
          <p:cNvSpPr/>
          <p:nvPr/>
        </p:nvSpPr>
        <p:spPr>
          <a:xfrm>
            <a:off x="768096" y="4645152"/>
            <a:ext cx="1993392" cy="329184"/>
          </a:xfrm>
          <a:prstGeom prst="roundRect">
            <a:avLst>
              <a:gd name="adj" fmla="val 33333"/>
            </a:avLst>
          </a:prstGeom>
          <a:solidFill>
            <a:srgbClr val="1E5B52"/>
          </a:solidFill>
          <a:ln w="6350">
            <a:solidFill>
              <a:srgbClr val="1E5B52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" y="465429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работает система</a:t>
            </a:r>
            <a:endParaRPr lang="ru-RU" sz="1050" dirty="0"/>
          </a:p>
        </p:txBody>
      </p:sp>
      <p:sp>
        <p:nvSpPr>
          <p:cNvPr id="56" name="Shape 54"/>
          <p:cNvSpPr/>
          <p:nvPr/>
        </p:nvSpPr>
        <p:spPr>
          <a:xfrm>
            <a:off x="768096" y="5102351"/>
            <a:ext cx="2405272" cy="1005841"/>
          </a:xfrm>
          <a:prstGeom prst="chevron">
            <a:avLst/>
          </a:prstGeom>
          <a:solidFill>
            <a:srgbClr val="1E5B52"/>
          </a:solidFill>
          <a:ln w="6350">
            <a:solidFill>
              <a:srgbClr val="1E5B5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12784" y="529870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ru-RU" alt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Заявитель</a:t>
            </a:r>
            <a:endParaRPr lang="ru-RU" sz="1600" dirty="0"/>
          </a:p>
        </p:txBody>
      </p:sp>
      <p:sp>
        <p:nvSpPr>
          <p:cNvPr id="58" name="Text 56"/>
          <p:cNvSpPr/>
          <p:nvPr/>
        </p:nvSpPr>
        <p:spPr>
          <a:xfrm>
            <a:off x="1231072" y="551816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3F8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и координаты</a:t>
            </a:r>
            <a:endParaRPr lang="ru-RU" sz="1050" dirty="0"/>
          </a:p>
        </p:txBody>
      </p:sp>
      <p:sp>
        <p:nvSpPr>
          <p:cNvPr id="59" name="Shape 57"/>
          <p:cNvSpPr/>
          <p:nvPr/>
        </p:nvSpPr>
        <p:spPr>
          <a:xfrm>
            <a:off x="2921289" y="5102352"/>
            <a:ext cx="2405270" cy="1005840"/>
          </a:xfrm>
          <a:prstGeom prst="chevron">
            <a:avLst/>
          </a:prstGeom>
          <a:solidFill>
            <a:srgbClr val="2F8F83"/>
          </a:solidFill>
          <a:ln w="6350">
            <a:solidFill>
              <a:srgbClr val="2F8F83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94832" y="529870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ru-RU" alt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Координатор</a:t>
            </a:r>
            <a:endParaRPr lang="ru-RU" sz="1600" dirty="0"/>
          </a:p>
        </p:txBody>
      </p:sp>
      <p:sp>
        <p:nvSpPr>
          <p:cNvPr id="61" name="Text 59"/>
          <p:cNvSpPr/>
          <p:nvPr/>
        </p:nvSpPr>
        <p:spPr>
          <a:xfrm>
            <a:off x="3413120" y="551816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3F8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и маршрут</a:t>
            </a:r>
            <a:endParaRPr lang="ru-RU" sz="1050" dirty="0"/>
          </a:p>
        </p:txBody>
      </p:sp>
      <p:sp>
        <p:nvSpPr>
          <p:cNvPr id="62" name="Shape 60"/>
          <p:cNvSpPr/>
          <p:nvPr/>
        </p:nvSpPr>
        <p:spPr>
          <a:xfrm>
            <a:off x="5058579" y="5102352"/>
            <a:ext cx="2405270" cy="1005840"/>
          </a:xfrm>
          <a:prstGeom prst="chevron">
            <a:avLst/>
          </a:prstGeom>
          <a:solidFill>
            <a:srgbClr val="2E6FA7"/>
          </a:solidFill>
          <a:ln w="6350">
            <a:solidFill>
              <a:srgbClr val="2E6FA7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92698" y="529870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alt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Исполнитель</a:t>
            </a:r>
            <a:endParaRPr lang="ru-RU" sz="1600" dirty="0"/>
          </a:p>
        </p:txBody>
      </p:sp>
      <p:sp>
        <p:nvSpPr>
          <p:cNvPr id="64" name="Text 62"/>
          <p:cNvSpPr/>
          <p:nvPr/>
        </p:nvSpPr>
        <p:spPr>
          <a:xfrm>
            <a:off x="5510986" y="551816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3F8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уборка территории</a:t>
            </a:r>
            <a:endParaRPr lang="ru-RU" sz="1050" dirty="0"/>
          </a:p>
        </p:txBody>
      </p:sp>
      <p:sp>
        <p:nvSpPr>
          <p:cNvPr id="65" name="Shape 63"/>
          <p:cNvSpPr/>
          <p:nvPr/>
        </p:nvSpPr>
        <p:spPr>
          <a:xfrm>
            <a:off x="7234370" y="5102352"/>
            <a:ext cx="2405270" cy="1005840"/>
          </a:xfrm>
          <a:prstGeom prst="chevron">
            <a:avLst/>
          </a:prstGeom>
          <a:solidFill>
            <a:srgbClr val="D58C2C"/>
          </a:solidFill>
          <a:ln w="6350">
            <a:solidFill>
              <a:srgbClr val="D58C2C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84903" y="529870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alt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AI-модуль</a:t>
            </a:r>
            <a:endParaRPr lang="ru-RU" sz="1600" dirty="0"/>
          </a:p>
        </p:txBody>
      </p:sp>
      <p:sp>
        <p:nvSpPr>
          <p:cNvPr id="67" name="Text 65"/>
          <p:cNvSpPr/>
          <p:nvPr/>
        </p:nvSpPr>
        <p:spPr>
          <a:xfrm>
            <a:off x="7703191" y="551816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3F8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сравнение до / после</a:t>
            </a:r>
            <a:endParaRPr lang="ru-RU" sz="1050" dirty="0"/>
          </a:p>
        </p:txBody>
      </p:sp>
      <p:sp>
        <p:nvSpPr>
          <p:cNvPr id="68" name="Shape 66"/>
          <p:cNvSpPr/>
          <p:nvPr/>
        </p:nvSpPr>
        <p:spPr>
          <a:xfrm>
            <a:off x="9387825" y="5102352"/>
            <a:ext cx="2405270" cy="1005840"/>
          </a:xfrm>
          <a:prstGeom prst="chevron">
            <a:avLst/>
          </a:prstGeom>
          <a:solidFill>
            <a:srgbClr val="647684"/>
          </a:solidFill>
          <a:ln w="6350">
            <a:solidFill>
              <a:srgbClr val="647684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19541" y="529870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ru-RU" alt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Отчёты</a:t>
            </a:r>
            <a:endParaRPr lang="ru-RU" sz="1600" dirty="0"/>
          </a:p>
        </p:txBody>
      </p:sp>
      <p:sp>
        <p:nvSpPr>
          <p:cNvPr id="70" name="Text 68"/>
          <p:cNvSpPr/>
          <p:nvPr/>
        </p:nvSpPr>
        <p:spPr>
          <a:xfrm>
            <a:off x="9737829" y="5518162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ru-RU" altLang="en-US" sz="1050" dirty="0">
                <a:solidFill>
                  <a:srgbClr val="F3F8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аналитика и контроль</a:t>
            </a:r>
            <a:endParaRPr lang="ru-RU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125</Words>
  <Application>Microsoft Office PowerPoint</Application>
  <PresentationFormat>Широкоэкранный</PresentationFormat>
  <Paragraphs>41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Segoe UI</vt:lpstr>
      <vt:lpstr>Segoe UI Semibold</vt:lpstr>
      <vt:lpstr>Office Theme</vt:lpstr>
      <vt:lpstr>Презентация PowerPoint</vt:lpstr>
    </vt:vector>
  </TitlesOfParts>
  <Company>Garbage-detection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несанкционированных скоплений мусора</dc:title>
  <dc:subject>Инфографика по курсовому проекту</dc:subject>
  <dc:creator>Эмиль Галлямов</dc:creator>
  <cp:lastModifiedBy>Эмиль Галлямов</cp:lastModifiedBy>
  <cp:revision>3</cp:revision>
  <dcterms:created xsi:type="dcterms:W3CDTF">2026-04-06T20:15:10Z</dcterms:created>
  <dcterms:modified xsi:type="dcterms:W3CDTF">2026-04-06T20:28:25Z</dcterms:modified>
</cp:coreProperties>
</file>